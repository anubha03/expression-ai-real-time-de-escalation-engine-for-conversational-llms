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0A9396">
              <a:alpha val="20000"/>
            </a:srgbClr>
          </a:solidFill>
          <a:ln w="12700">
            <a:solidFill>
              <a:srgbClr val="0A9396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286000"/>
            <a:ext cx="2926080" cy="2926080"/>
          </a:xfrm>
          <a:prstGeom prst="ellipse">
            <a:avLst/>
          </a:prstGeom>
          <a:solidFill>
            <a:srgbClr val="94D2BD">
              <a:alpha val="15000"/>
            </a:srgbClr>
          </a:solidFill>
          <a:ln w="12700">
            <a:solidFill>
              <a:srgbClr val="94D2BD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🧠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AI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Emotion-Aware Escalation Prediction &amp; Closed-Loop Intervention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154680"/>
            <a:ext cx="2560320" cy="27432"/>
          </a:xfrm>
          <a:prstGeom prst="rect">
            <a:avLst/>
          </a:prstGeom>
          <a:solidFill>
            <a:srgbClr val="E9724C"/>
          </a:solidFill>
          <a:ln w="12700">
            <a:solidFill>
              <a:srgbClr val="E972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EECS 6895 · Big Data Analytics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12-min session  ·  15 slides  ·  Live demo included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645920" cy="2926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2697480" cy="3474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41732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1828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&amp; Novelty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22402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idea vs existing challenge?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1417320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417320"/>
            <a:ext cx="2697480" cy="347472"/>
          </a:xfrm>
          <a:prstGeom prst="rect">
            <a:avLst/>
          </a:prstGeom>
          <a:solidFill>
            <a:srgbClr val="E9724C"/>
          </a:solidFill>
          <a:ln w="12700">
            <a:solidFill>
              <a:srgbClr val="E972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93008" y="141732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93008" y="1828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93008" y="22402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3Vs: WildChat 50K conversations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09360" y="1417320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1417320"/>
            <a:ext cx="2697480" cy="347472"/>
          </a:xfrm>
          <a:prstGeom prst="rect">
            <a:avLst/>
          </a:prstGeom>
          <a:solidFill>
            <a:srgbClr val="EFC050"/>
          </a:solidFill>
          <a:ln w="12700">
            <a:solidFill>
              <a:srgbClr val="EFC0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19088" y="141732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19088" y="1828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19088" y="22402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GoEmotions BERT · XGBoost · BiLSTM · Mistral-7B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108960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108960"/>
            <a:ext cx="2697480" cy="347472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10896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66928" y="3520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6928" y="3931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implemented pipeline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83280" y="3108960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83280" y="3108960"/>
            <a:ext cx="269748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93008" y="310896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493008" y="3520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Examples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493008" y="3931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SHAP, A/B results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09360" y="3108960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09360" y="3108960"/>
            <a:ext cx="2697480" cy="3474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19088" y="310896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19088" y="3520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19088" y="3931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intervention chat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645920" cy="2926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GOAL &amp; NOVELTY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Novelty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3840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3840480" cy="411480"/>
          </a:xfrm>
          <a:prstGeom prst="rect">
            <a:avLst/>
          </a:prstGeom>
          <a:solidFill>
            <a:srgbClr val="E9724C"/>
          </a:solidFill>
          <a:ln w="12700">
            <a:solidFill>
              <a:srgbClr val="E972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71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🔴  Existing Challenge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7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chatbots cannot detect user frustration in real time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578608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7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sentiment tools are static — they don't predict future state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236976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7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mechanism to automatically adjust AI replies based on emotional trajectory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1371600"/>
            <a:ext cx="41148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371600"/>
            <a:ext cx="4114800" cy="4114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3716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🟢  Our Novel Contributions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09160" y="19202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2-turn-ahead prediction using rolling-window XGBoost (no data leakage)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25603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system: SHAP-driven interventions injected into Mistral-7B system prompt at runtime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09160" y="32004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evaluation quantifying intervention effectiveness (delta-valence, paired t-test)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9160" y="38404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 emotion space mapped from 28-class GoEmotions BERT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645920" cy="2926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The 3Vs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2651760" cy="4572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417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📦  Volume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66928" y="20116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66928" y="272491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WildChat-1M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55848" y="141732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55848" y="1417320"/>
            <a:ext cx="2651760" cy="457200"/>
          </a:xfrm>
          <a:prstGeom prst="rect">
            <a:avLst/>
          </a:prstGeom>
          <a:solidFill>
            <a:srgbClr val="E9724C"/>
          </a:solidFill>
          <a:ln w="12700">
            <a:solidFill>
              <a:srgbClr val="E972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65576" y="1417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⚡  Velocity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65576" y="20116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7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465576" y="272491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streaming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(no full download)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54496" y="141732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54496" y="1417320"/>
            <a:ext cx="2651760" cy="457200"/>
          </a:xfrm>
          <a:prstGeom prst="rect">
            <a:avLst/>
          </a:prstGeom>
          <a:solidFill>
            <a:srgbClr val="EFC050"/>
          </a:solidFill>
          <a:ln w="12700">
            <a:solidFill>
              <a:srgbClr val="EFC0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64224" y="1417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🌍  Variety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64224" y="20116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C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Multi-lingual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364224" y="272491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+ other langs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countries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663440"/>
            <a:ext cx="8229600" cy="640080"/>
          </a:xfrm>
          <a:prstGeom prst="rect">
            <a:avLst/>
          </a:prstGeom>
          <a:solidFill>
            <a:srgbClr val="FFF3F0"/>
          </a:solidFill>
          <a:ln w="12700">
            <a:solidFill>
              <a:srgbClr val="FFF3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663440"/>
            <a:ext cx="109728" cy="640080"/>
          </a:xfrm>
          <a:prstGeom prst="rect">
            <a:avLst/>
          </a:prstGeom>
          <a:solidFill>
            <a:srgbClr val="E9724C"/>
          </a:solidFill>
          <a:ln w="12700">
            <a:solidFill>
              <a:srgbClr val="E972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4709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724C"/>
                </a:solidFill>
              </a:rPr>
              <a:t>⚠️  Data Difficulties: 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331720" y="470916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Empty/short turns required placeholder handling · GPU batch inference needed for 50K annotations · Streaming avoids OOM · Conversation-level train/test split prevents rolling-window leakage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645920" cy="2926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TECHNOLOGY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54864" cy="475488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D2BD"/>
                </a:solidFill>
              </a:rPr>
              <a:t>Emotion Annotation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34640" y="1453896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GoEmotions BERT (28 classes) → VAD (Valence/Arousal/Dominance) vectors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54864" cy="47548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1168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9396"/>
                </a:solidFill>
              </a:rPr>
              <a:t>Escalation Prediction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34640" y="2048256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XGBoost — rolling 4-turn window, 14 features, 2-turn-ahead label; Conversation-level split (no leakage)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54864" cy="475488"/>
          </a:xfrm>
          <a:prstGeom prst="rect">
            <a:avLst/>
          </a:prstGeom>
          <a:solidFill>
            <a:srgbClr val="EFC050"/>
          </a:solidFill>
          <a:ln w="12700">
            <a:solidFill>
              <a:srgbClr val="EFC0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60604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C050"/>
                </a:solidFill>
              </a:rPr>
              <a:t>Sequential Model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34640" y="2642616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BiLSTM (2-layer, hidden=64, bidirectional) over raw VAD sequences; compared against XGBoost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54864" cy="475488"/>
          </a:xfrm>
          <a:prstGeom prst="rect">
            <a:avLst/>
          </a:prstGeom>
          <a:solidFill>
            <a:srgbClr val="E9724C"/>
          </a:solidFill>
          <a:ln w="12700">
            <a:solidFill>
              <a:srgbClr val="E972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20040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724C"/>
                </a:solidFill>
              </a:rPr>
              <a:t>Explainability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34640" y="3236976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SHAP TreeExplainer — top-k features ranked per conversation; calibration curve; precision-recall analysis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794760"/>
            <a:ext cx="54864" cy="475488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79476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D2BD"/>
                </a:solidFill>
              </a:rPr>
              <a:t>Generative AI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34640" y="3831336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Mistral-7B-Instruct-v0.3 (4-bit NF4 quantization, ~8 GB VRAM) — SHAP-driven directives in system prompt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389120"/>
            <a:ext cx="54864" cy="47548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38912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9396"/>
                </a:solidFill>
              </a:rPr>
              <a:t>Visualization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834640" y="4425696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UMAP 2-D emotion space · Streamlit 5-tab dashboard · Plotly interactive charts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645920" cy="2926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System Architecture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71600"/>
            <a:ext cx="120700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71600"/>
            <a:ext cx="1207008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71600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🗄️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" y="1773936"/>
            <a:ext cx="111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WildChat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 convs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508760" y="1965960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0" y="1371600"/>
            <a:ext cx="120700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645920" y="1371600"/>
            <a:ext cx="1207008" cy="3474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0" y="1371600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🧠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1773936"/>
            <a:ext cx="111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GoEmotions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880360" y="1965960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17520" y="1371600"/>
            <a:ext cx="120700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017520" y="1371600"/>
            <a:ext cx="1207008" cy="347472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0" y="1371600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063240" y="1773936"/>
            <a:ext cx="111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51960" y="1965960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0" y="1371600"/>
            <a:ext cx="120700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89120" y="1371600"/>
            <a:ext cx="1207008" cy="347472"/>
          </a:xfrm>
          <a:prstGeom prst="rect">
            <a:avLst/>
          </a:prstGeom>
          <a:solidFill>
            <a:srgbClr val="E9724C"/>
          </a:solidFill>
          <a:ln w="12700">
            <a:solidFill>
              <a:srgbClr val="E972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0" y="1371600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🌲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34840" y="1773936"/>
            <a:ext cx="111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23560" y="1965960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60720" y="1371600"/>
            <a:ext cx="120700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760720" y="1371600"/>
            <a:ext cx="1207008" cy="347472"/>
          </a:xfrm>
          <a:prstGeom prst="rect">
            <a:avLst/>
          </a:prstGeom>
          <a:solidFill>
            <a:srgbClr val="EFC050"/>
          </a:solidFill>
          <a:ln w="12700">
            <a:solidFill>
              <a:srgbClr val="EFC0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0" y="1371600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806440" y="1773936"/>
            <a:ext cx="111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995160" y="1965960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32320" y="1371600"/>
            <a:ext cx="120700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132320" y="1371600"/>
            <a:ext cx="1207008" cy="3474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0" y="1371600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178040" y="1773936"/>
            <a:ext cx="111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Mistral-7B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Intervention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74320" y="2670048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Data Layer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645920" y="2670048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Annotation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017520" y="2670048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Feature Eng.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389120" y="2670048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Prediction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760720" y="2670048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Explainability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132320" y="2670048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Closed Loop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3063240"/>
            <a:ext cx="120700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74320" y="3063240"/>
            <a:ext cx="73152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4048" y="3108960"/>
            <a:ext cx="1069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Parquet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645920" y="3063240"/>
            <a:ext cx="120700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1645920" y="3063240"/>
            <a:ext cx="73152" cy="8686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755648" y="3108960"/>
            <a:ext cx="1069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GPU inference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BATCH=128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017520" y="3063240"/>
            <a:ext cx="120700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017520" y="3063240"/>
            <a:ext cx="73152" cy="868680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27248" y="3108960"/>
            <a:ext cx="1069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Valence · Arousal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Dominance + 4-class label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389120" y="3063240"/>
            <a:ext cx="120700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389120" y="3063240"/>
            <a:ext cx="73152" cy="868680"/>
          </a:xfrm>
          <a:prstGeom prst="rect">
            <a:avLst/>
          </a:prstGeom>
          <a:solidFill>
            <a:srgbClr val="E9724C"/>
          </a:solidFill>
          <a:ln w="12700">
            <a:solidFill>
              <a:srgbClr val="E9724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498848" y="3108960"/>
            <a:ext cx="1069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rolling features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2-turn-ahead window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760720" y="3063240"/>
            <a:ext cx="120700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760720" y="3063240"/>
            <a:ext cx="73152" cy="868680"/>
          </a:xfrm>
          <a:prstGeom prst="rect">
            <a:avLst/>
          </a:prstGeom>
          <a:solidFill>
            <a:srgbClr val="EFC050"/>
          </a:solidFill>
          <a:ln w="12700">
            <a:solidFill>
              <a:srgbClr val="EFC05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70448" y="3108960"/>
            <a:ext cx="1069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drivers →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rules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132320" y="3063240"/>
            <a:ext cx="120700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7132320" y="3063240"/>
            <a:ext cx="73152" cy="8686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242048" y="3108960"/>
            <a:ext cx="1069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injection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Delta-valence A/B eval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645920" cy="2926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TECHNOLOGY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Annotation: GoEmotions → VAD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73152" cy="3474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8132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9396"/>
                </a:solidFill>
              </a:rPr>
              <a:t>GoEmotions BERT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993392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97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monologg/bert-base-cased-goemotions-original
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97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emotion classes (anger, joy, fear, sadness …)
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97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Probability-weighted VAD mapping (V in [-1,1])
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97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inference on GPU (BATCH=128) → ~50K turns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VAD Examples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920240"/>
            <a:ext cx="109728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9202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Emotion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70448" y="1920240"/>
            <a:ext cx="82296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16168" y="19202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Valence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93408" y="1920240"/>
            <a:ext cx="82296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39128" y="19202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Arousal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516368" y="1920240"/>
            <a:ext cx="100584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62088" y="1920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Dominance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304288"/>
            <a:ext cx="1097280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30428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joy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870448" y="2304288"/>
            <a:ext cx="822960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16168" y="230428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3A047"/>
                </a:solidFill>
              </a:rPr>
              <a:t>+0.90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693408" y="2304288"/>
            <a:ext cx="822960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39128" y="230428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0.70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516368" y="2304288"/>
            <a:ext cx="1005840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62088" y="23042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0.60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2688336"/>
            <a:ext cx="10972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268833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anger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870448" y="2688336"/>
            <a:ext cx="8229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16168" y="268833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3935"/>
                </a:solidFill>
              </a:rPr>
              <a:t>−0.70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693408" y="2688336"/>
            <a:ext cx="8229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39128" y="268833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0.80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516368" y="2688336"/>
            <a:ext cx="10058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62088" y="268833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0.60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3072384"/>
            <a:ext cx="1097280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307238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fear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870448" y="3072384"/>
            <a:ext cx="822960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16168" y="307238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3935"/>
                </a:solidFill>
              </a:rPr>
              <a:t>−0.80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693408" y="3072384"/>
            <a:ext cx="822960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39128" y="307238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0.80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516368" y="3072384"/>
            <a:ext cx="1005840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62088" y="307238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0.20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754880" y="3456432"/>
            <a:ext cx="10972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0600" y="345643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curiosity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870448" y="3456432"/>
            <a:ext cx="8229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16168" y="34564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3A047"/>
                </a:solidFill>
              </a:rPr>
              <a:t>+0.50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693408" y="3456432"/>
            <a:ext cx="8229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39128" y="34564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0.60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516368" y="3456432"/>
            <a:ext cx="10058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62088" y="34564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0.40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754880" y="3840480"/>
            <a:ext cx="1097280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00600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neutral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870448" y="3840480"/>
            <a:ext cx="822960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916168" y="3840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0.00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693408" y="3840480"/>
            <a:ext cx="822960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739128" y="3840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0.10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7516368" y="3840480"/>
            <a:ext cx="1005840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562088" y="3840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0.50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754880" y="4224528"/>
            <a:ext cx="10972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00600" y="422452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grief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5870448" y="4224528"/>
            <a:ext cx="8229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916168" y="42245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3935"/>
                </a:solidFill>
              </a:rPr>
              <a:t>−0.80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693408" y="4224528"/>
            <a:ext cx="8229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739128" y="42245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0.30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7516368" y="4224528"/>
            <a:ext cx="10058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562088" y="42245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0.20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4754880" y="4608576"/>
            <a:ext cx="1097280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800600" y="460857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gratitude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5870448" y="4608576"/>
            <a:ext cx="822960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916168" y="460857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3A047"/>
                </a:solidFill>
              </a:rPr>
              <a:t>+0.80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6693408" y="4608576"/>
            <a:ext cx="822960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739128" y="460857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0.30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7516368" y="4608576"/>
            <a:ext cx="1005840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562088" y="460857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0.40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645920" cy="2926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TECHNOLOGY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Prediction: XGBoost + BiLSTM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32004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32004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3716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14 Rolling-Window Features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874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9396"/>
                </a:solidFill>
              </a:rPr>
              <a:t>User Features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19456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9396"/>
                </a:solidFill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u_val_mean/last/delta/std/slope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252374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9396"/>
                </a:solidFill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u_aro_mean/last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85292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9396"/>
                </a:solidFill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u_dom_mean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318211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9396"/>
                </a:solidFill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n_turns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360273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724C"/>
                </a:solidFill>
              </a:rPr>
              <a:t>AI Features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392277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724C"/>
                </a:solidFill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a_len_mean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425196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724C"/>
                </a:solidFill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a_val_mean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458114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724C"/>
                </a:solidFill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a_hedge_rate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491032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724C"/>
                </a:solidFill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a_apology_rate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523951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724C"/>
                </a:solidFill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a_refusal_rate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0" y="1371600"/>
            <a:ext cx="4846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40480" y="1371600"/>
            <a:ext cx="4846320" cy="384048"/>
          </a:xfrm>
          <a:prstGeom prst="rect">
            <a:avLst/>
          </a:prstGeom>
          <a:solidFill>
            <a:srgbClr val="E9724C"/>
          </a:solidFill>
          <a:ln w="12700">
            <a:solidFill>
              <a:srgbClr val="E972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50208" y="137160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XGBoost (n_estimators=300, max_depth=5, lr=0.05)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977640" y="18288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Window size: 4 turns → predict escalation 2 turns ahead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Label: user_valence[t+1] &lt; user_valence[t] - 0.15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Conversation-level split prevents window leakage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840480" y="3063240"/>
            <a:ext cx="48463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40480" y="3063240"/>
            <a:ext cx="4846320" cy="384048"/>
          </a:xfrm>
          <a:prstGeom prst="rect">
            <a:avLst/>
          </a:prstGeom>
          <a:solidFill>
            <a:srgbClr val="EFC050"/>
          </a:solidFill>
          <a:ln w="12700">
            <a:solidFill>
              <a:srgbClr val="EFC0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50208" y="306324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BiLSTM (2-layer, hidden=64, bidirectional)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977640" y="3520440"/>
            <a:ext cx="4572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Input: raw VAD sequences (3D per turn × 4 turns)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Architecture: LSTM → Linear(128→32) → Sigmoid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Trained 12 epochs, BCELoss, Adam lr=1e-3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Used to compare vs XGBoost (AUC benchmark)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645920" cy="2926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Intervention Engine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17320"/>
            <a:ext cx="1143000" cy="11430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9047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265176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message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572768" y="1984248"/>
            <a:ext cx="30175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74520" y="1417320"/>
            <a:ext cx="1143000" cy="114300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74520" y="149047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783080" y="265176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 with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GoEmotions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35808" y="1984248"/>
            <a:ext cx="30175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1417320"/>
            <a:ext cx="1143000" cy="1143000"/>
          </a:xfrm>
          <a:prstGeom prst="ellipse">
            <a:avLst/>
          </a:prstGeom>
          <a:solidFill>
            <a:srgbClr val="E9724C"/>
          </a:solidFill>
          <a:ln w="12700">
            <a:solidFill>
              <a:srgbClr val="E972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49047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246120" y="265176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risk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(XGBoost + hard rules)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98848" y="1984248"/>
            <a:ext cx="30175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1417320"/>
            <a:ext cx="1143000" cy="1143000"/>
          </a:xfrm>
          <a:prstGeom prst="ellipse">
            <a:avLst/>
          </a:prstGeom>
          <a:solidFill>
            <a:srgbClr val="EFC050"/>
          </a:solidFill>
          <a:ln w="12700">
            <a:solidFill>
              <a:srgbClr val="EFC0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49047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709160" y="265176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→ top-k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rules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61888" y="1984248"/>
            <a:ext cx="30175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1417320"/>
            <a:ext cx="1143000" cy="1143000"/>
          </a:xfrm>
          <a:prstGeom prst="ellipse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149047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172200" y="265176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into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Mistral-7B prompt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24928" y="1984248"/>
            <a:ext cx="30175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26680" y="1417320"/>
            <a:ext cx="1143000" cy="11430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26680" y="149047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6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635240" y="265176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delta-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valence (A/B)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2606040"/>
            <a:ext cx="4023360" cy="2286000"/>
          </a:xfrm>
          <a:prstGeom prst="rect">
            <a:avLst/>
          </a:prstGeom>
          <a:solidFill>
            <a:srgbClr val="FFF8F0"/>
          </a:solidFill>
          <a:ln w="12700">
            <a:solidFill>
              <a:srgbClr val="FFF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2606040"/>
            <a:ext cx="73152" cy="2286000"/>
          </a:xfrm>
          <a:prstGeom prst="rect">
            <a:avLst/>
          </a:prstGeom>
          <a:solidFill>
            <a:srgbClr val="E9724C"/>
          </a:solidFill>
          <a:ln w="12700">
            <a:solidFill>
              <a:srgbClr val="E972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2651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724C"/>
                </a:solidFill>
              </a:rPr>
              <a:t>Sample Intervention Rules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8368" y="309067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724C"/>
                </a:solidFill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Valence dropping fast → acknowledge frustration explicitly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8368" y="3438144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724C"/>
                </a:solidFill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High arousal → keep reply ≤3 sentences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8368" y="3785616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724C"/>
                </a:solidFill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Refusals driving frustration → offer concrete alternative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58368" y="4133088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724C"/>
                </a:solidFill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Excessive hedging → be more direct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58368" y="448056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724C"/>
                </a:solidFill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Low user control → offer clear choice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2606040"/>
            <a:ext cx="4023360" cy="2286000"/>
          </a:xfrm>
          <a:prstGeom prst="rect">
            <a:avLst/>
          </a:prstGeom>
          <a:solidFill>
            <a:srgbClr val="F0F8FF"/>
          </a:solidFill>
          <a:ln w="12700">
            <a:solidFill>
              <a:srgbClr val="F0F8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63440" y="2606040"/>
            <a:ext cx="73152" cy="22860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2651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9396"/>
                </a:solidFill>
              </a:rPr>
              <a:t>Response Style Prefixes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46320" y="31272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9396"/>
                </a:solidFill>
              </a:rPr>
              <a:t>empathy_first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46320" y="33558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</a:rPr>
              <a:t>"I completely understand your frustration."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46320" y="36758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9396"/>
                </a:solidFill>
              </a:rPr>
              <a:t>direct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46320" y="39044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</a:rPr>
              <a:t>(no prefix — factual response)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46320" y="42245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9396"/>
                </a:solidFill>
              </a:rPr>
              <a:t>apologetic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46320" y="44531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</a:rPr>
              <a:t>"I sincerely apologise for the confusion."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645920" cy="2926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EVALUATION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Model Performance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468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91440" cy="12801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55448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~0.82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21792" y="2194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AUC-ROC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(rolling 2-turn-ahead)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1417320"/>
            <a:ext cx="2468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417320"/>
            <a:ext cx="91440" cy="1280160"/>
          </a:xfrm>
          <a:prstGeom prst="rect">
            <a:avLst/>
          </a:prstGeom>
          <a:solidFill>
            <a:srgbClr val="E9724C"/>
          </a:solidFill>
          <a:ln w="12700">
            <a:solidFill>
              <a:srgbClr val="E972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9272" y="155448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97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~0.78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319272" y="2194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AUC-ROC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(VAD sequences)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52160" y="1417320"/>
            <a:ext cx="2468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52160" y="1417320"/>
            <a:ext cx="91440" cy="1280160"/>
          </a:xfrm>
          <a:prstGeom prst="rect">
            <a:avLst/>
          </a:prstGeom>
          <a:solidFill>
            <a:srgbClr val="EFC050"/>
          </a:solidFill>
          <a:ln w="12700">
            <a:solidFill>
              <a:srgbClr val="EFC0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16752" y="155448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FC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&gt;0.40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016752" y="2194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Valence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(intervention vs baseline)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2468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926080"/>
            <a:ext cx="91440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06324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621792" y="3703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Rolling-window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engineered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154680" y="2926080"/>
            <a:ext cx="2468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54680" y="2926080"/>
            <a:ext cx="91440" cy="1280160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19272" y="306324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3319272" y="3703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AI-annotated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turns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52160" y="2926080"/>
            <a:ext cx="2468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852160" y="2926080"/>
            <a:ext cx="91440" cy="12801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16752" y="306324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4-class</a:t>
            </a:r>
            <a:endParaRPr lang="en-US" sz="3800" dirty="0"/>
          </a:p>
        </p:txBody>
      </p:sp>
      <p:sp>
        <p:nvSpPr>
          <p:cNvPr id="29" name="Text 27"/>
          <p:cNvSpPr/>
          <p:nvPr/>
        </p:nvSpPr>
        <p:spPr>
          <a:xfrm>
            <a:off x="6016752" y="3703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labels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 / Escalating / De-esc / Volatile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370832"/>
            <a:ext cx="8229600" cy="548640"/>
          </a:xfrm>
          <a:prstGeom prst="rect">
            <a:avLst/>
          </a:prstGeom>
          <a:solidFill>
            <a:srgbClr val="F0FBF8"/>
          </a:solidFill>
          <a:ln w="12700">
            <a:solidFill>
              <a:srgbClr val="F0FB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4370832"/>
            <a:ext cx="73152" cy="5486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41655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Evaluation suite: AUC-ROC · F1 · Precision-Recall · Calibration curve · SHAP feature importance · Paired t-test on intervention delta · UMAP cluster quality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645920" cy="2926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EVALUATION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Explainability: SHAP Feature Importance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u_val_delta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0" y="1371600"/>
            <a:ext cx="5029200" cy="3200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45552" y="13716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0.32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746504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u_val_last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0" y="1746504"/>
            <a:ext cx="4243388" cy="3200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59740" y="174650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0.27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12140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u_val_slope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0" y="2121408"/>
            <a:ext cx="3300413" cy="3200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16765" y="21214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0.21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49631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u_aro_last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0" y="2496312"/>
            <a:ext cx="2828925" cy="3200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45277" y="24963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0.18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87121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a_refusal_rate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0" y="2871216"/>
            <a:ext cx="2357438" cy="3200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73790" y="287121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0.15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2461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u_val_std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0" y="3246120"/>
            <a:ext cx="2043113" cy="3200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59465" y="3246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0.13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621024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a_hedge_rate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0" y="3621024"/>
            <a:ext cx="1728788" cy="3200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5140" y="362102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0.11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399592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n_turns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0" y="3995928"/>
            <a:ext cx="1414463" cy="3200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30815" y="39959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0.09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37083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u_dom_mean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0" y="4370832"/>
            <a:ext cx="1257300" cy="3200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73652" y="43708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0.08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474573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a_apology_rate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0" y="4745736"/>
            <a:ext cx="1100138" cy="3200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16490" y="474573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0.07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43200" y="4800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Mean |SHAP| Value →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4572000"/>
            <a:ext cx="2148840" cy="502920"/>
          </a:xfrm>
          <a:prstGeom prst="rect">
            <a:avLst/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57200" y="4572000"/>
            <a:ext cx="21488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📌 Top drivers: recent valence drop (u_val_delta) + current sentiment (u_val_last) → confirm our feature engineering captures the right signal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645920" cy="2926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EVALUATION — EXAMPLE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Scripted Escalation Scenario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7132320" cy="621792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371600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A047"/>
                </a:solidFill>
              </a:rPr>
              <a:t>🟢 Turn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54480" y="141732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Can you help me write a Python function to parse JSON from an API response?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629400" y="137160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3A047"/>
                </a:solidFill>
              </a:rPr>
              <a:t>Risk: 12%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084832"/>
            <a:ext cx="7132320" cy="621792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084832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C050"/>
                </a:solidFill>
              </a:rPr>
              <a:t>🟡 Turn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54480" y="2130552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That code throws a KeyError. I already told you the response structure.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29400" y="2084832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C050"/>
                </a:solidFill>
              </a:rPr>
              <a:t>Risk: 35%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798064"/>
            <a:ext cx="7132320" cy="621792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2798064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724C"/>
                </a:solidFill>
              </a:rPr>
              <a:t>🔴 Turn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54480" y="2843784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This is the third time you've ignored what I said. This is really frustrating.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29400" y="2798064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9724C"/>
                </a:solidFill>
              </a:rPr>
              <a:t>Risk: 58%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511296"/>
            <a:ext cx="7132320" cy="621792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3511296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935"/>
                </a:solidFill>
              </a:rPr>
              <a:t>🔴 Turn 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554480" y="3557016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You clearly don't understand my problem at all. Why can't you just listen?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29400" y="3511296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53935"/>
                </a:solidFill>
              </a:rPr>
              <a:t>Risk: 74%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699248" y="3511296"/>
            <a:ext cx="1005840" cy="621792"/>
          </a:xfrm>
          <a:prstGeom prst="rect">
            <a:avLst/>
          </a:prstGeom>
          <a:solidFill>
            <a:srgbClr val="3D1A1A"/>
          </a:solidFill>
          <a:ln w="12700">
            <a:solidFill>
              <a:srgbClr val="3D1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699248" y="3511296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9724C"/>
                </a:solidFill>
              </a:rPr>
              <a:t>⚠️ ALERT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E9724C"/>
                </a:solidFill>
              </a:rPr>
              <a:t>INTERVENED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4224528"/>
            <a:ext cx="7132320" cy="621792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4360" y="4224528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935"/>
                </a:solidFill>
              </a:rPr>
              <a:t>🔴 Turn 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554480" y="4270248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Forget it. You're completely useless. I'll figure it out myself.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629400" y="4224528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53935"/>
                </a:solidFill>
              </a:rPr>
              <a:t>Risk: 81%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699248" y="4224528"/>
            <a:ext cx="1005840" cy="621792"/>
          </a:xfrm>
          <a:prstGeom prst="rect">
            <a:avLst/>
          </a:prstGeom>
          <a:solidFill>
            <a:srgbClr val="3D1A1A"/>
          </a:solidFill>
          <a:ln w="12700">
            <a:solidFill>
              <a:srgbClr val="3D1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699248" y="4224528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9724C"/>
                </a:solidFill>
              </a:rPr>
              <a:t>⚠️ ALERT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E9724C"/>
                </a:solidFill>
              </a:rPr>
              <a:t>INTERVENED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4956048"/>
            <a:ext cx="8229600" cy="548640"/>
          </a:xfrm>
          <a:prstGeom prst="rect">
            <a:avLst/>
          </a:prstGeom>
          <a:solidFill>
            <a:srgbClr val="0A2A20"/>
          </a:solidFill>
          <a:ln w="12700">
            <a:solidFill>
              <a:srgbClr val="0A2A2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4956048"/>
            <a:ext cx="91440" cy="548640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" y="49834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D2BD"/>
                </a:solidFill>
              </a:rPr>
              <a:t>Interventions injected at Turn 4: (1) "Valence is dropping fast — acknowledge frustration explicitly"  (2) "High arousal — keep reply ≤3 sentences"  (3) "Refusals driving frustration — offer alternative"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645920" cy="2926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EVALUATION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Evaluation: Does Intervention Work?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8229600" cy="960120"/>
          </a:xfrm>
          <a:prstGeom prst="rect">
            <a:avLst/>
          </a:prstGeom>
          <a:solidFill>
            <a:srgbClr val="F0F8FF"/>
          </a:solidFill>
          <a:ln w="12700">
            <a:solidFill>
              <a:srgbClr val="F0F8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91440" cy="9601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40817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9396"/>
                </a:solidFill>
              </a:rPr>
              <a:t>Method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17373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For each test conversation that triggers risk threshold, generate TWO replies: (A) plain system prompt vs (B) prompt + SHAP-driven intervention directives. Compare reply valence with paired t-test.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2697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14600"/>
            <a:ext cx="2697480" cy="731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67919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66928" y="31821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Conversations evaluated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55848" y="2514600"/>
            <a:ext cx="2697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55848" y="2514600"/>
            <a:ext cx="2697480" cy="7315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65576" y="267919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−0.18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465576" y="31821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Baseline mean valence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54496" y="2514600"/>
            <a:ext cx="2697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54496" y="2514600"/>
            <a:ext cx="2697480" cy="7315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4224" y="267919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+0.09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364224" y="31821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Intervened mean valence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749040"/>
            <a:ext cx="2697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749040"/>
            <a:ext cx="269748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9136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+0.27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66928" y="44165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Mean delta (B−A)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55848" y="3749040"/>
            <a:ext cx="2697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55848" y="3749040"/>
            <a:ext cx="2697480" cy="73152"/>
          </a:xfrm>
          <a:prstGeom prst="rect">
            <a:avLst/>
          </a:prstGeom>
          <a:solidFill>
            <a:srgbClr val="EFC050"/>
          </a:solidFill>
          <a:ln w="12700">
            <a:solidFill>
              <a:srgbClr val="EFC0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65576" y="39136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C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~72%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3465576" y="44165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% where intervention helped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54496" y="3749040"/>
            <a:ext cx="2697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54496" y="3749040"/>
            <a:ext cx="2697480" cy="73152"/>
          </a:xfrm>
          <a:prstGeom prst="rect">
            <a:avLst/>
          </a:prstGeom>
          <a:solidFill>
            <a:srgbClr val="E9724C"/>
          </a:solidFill>
          <a:ln w="12700">
            <a:solidFill>
              <a:srgbClr val="E972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64224" y="39136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7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0.05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6364224" y="44165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Paired t-test significant?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800600"/>
            <a:ext cx="8229600" cy="475488"/>
          </a:xfrm>
          <a:prstGeom prst="rect">
            <a:avLst/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" y="4800600"/>
            <a:ext cx="91440" cy="47548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" y="482803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✅  SHAP-driven interventions statistically significantly shift Mistral-7B's reply toward warmer, more empathetic language — validating the closed-loop design.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645920" cy="2926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DEMO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457200"/>
            <a:ext cx="3657600" cy="3657600"/>
          </a:xfrm>
          <a:prstGeom prst="ellipse">
            <a:avLst/>
          </a:prstGeom>
          <a:solidFill>
            <a:srgbClr val="0A9396">
              <a:alpha val="12000"/>
            </a:srgbClr>
          </a:solidFill>
          <a:ln w="12700">
            <a:solidFill>
              <a:srgbClr val="0A9396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4069080" cy="1005840"/>
          </a:xfrm>
          <a:prstGeom prst="rect">
            <a:avLst/>
          </a:prstGeom>
          <a:solidFill>
            <a:srgbClr val="1C2F45"/>
          </a:solidFill>
          <a:ln w="12700">
            <a:solidFill>
              <a:srgbClr val="1C2F4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41732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61872" y="15087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D2BD"/>
                </a:solidFill>
              </a:rPr>
              <a:t>InterventionChat Class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61872" y="192024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Real-time turn-by-turn session with risk tracking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417320"/>
            <a:ext cx="4069080" cy="1005840"/>
          </a:xfrm>
          <a:prstGeom prst="rect">
            <a:avLst/>
          </a:prstGeom>
          <a:solidFill>
            <a:srgbClr val="1C2F45"/>
          </a:solidFill>
          <a:ln w="12700">
            <a:solidFill>
              <a:srgbClr val="1C2F4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92040" y="141732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59552" y="15087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D2BD"/>
                </a:solidFill>
              </a:rPr>
              <a:t>Risk Arc Chart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59552" y="192024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Live Plotly chart: escalation risk + user valence per turn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606040"/>
            <a:ext cx="4069080" cy="1005840"/>
          </a:xfrm>
          <a:prstGeom prst="rect">
            <a:avLst/>
          </a:prstGeom>
          <a:solidFill>
            <a:srgbClr val="1C2F45"/>
          </a:solidFill>
          <a:ln w="12700">
            <a:solidFill>
              <a:srgbClr val="1C2F4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260604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61872" y="26974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D2BD"/>
                </a:solidFill>
              </a:rPr>
              <a:t>Intervention Alerts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61872" y="310896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SHAP top-k triggers fire when risk ≥ 30%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606040"/>
            <a:ext cx="4069080" cy="1005840"/>
          </a:xfrm>
          <a:prstGeom prst="rect">
            <a:avLst/>
          </a:prstGeom>
          <a:solidFill>
            <a:srgbClr val="1C2F45"/>
          </a:solidFill>
          <a:ln w="12700">
            <a:solidFill>
              <a:srgbClr val="1C2F4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260604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559552" y="26974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D2BD"/>
                </a:solidFill>
              </a:rPr>
              <a:t>Mistral-7B Response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59552" y="310896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4-bit quantized, system prompt injected on alert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794760"/>
            <a:ext cx="4069080" cy="1005840"/>
          </a:xfrm>
          <a:prstGeom prst="rect">
            <a:avLst/>
          </a:prstGeom>
          <a:solidFill>
            <a:srgbClr val="1C2F45"/>
          </a:solidFill>
          <a:ln w="12700">
            <a:solidFill>
              <a:srgbClr val="1C2F4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" y="379476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🎛️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261872" y="38862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D2BD"/>
                </a:solidFill>
              </a:rPr>
              <a:t>Streamlit Dashboard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61872" y="429768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5-tab UI: chat · analytics · UMAP · heatmap · calibration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3794760"/>
            <a:ext cx="4069080" cy="1005840"/>
          </a:xfrm>
          <a:prstGeom prst="rect">
            <a:avLst/>
          </a:prstGeom>
          <a:solidFill>
            <a:srgbClr val="1C2F45"/>
          </a:solidFill>
          <a:ln w="12700">
            <a:solidFill>
              <a:srgbClr val="1C2F4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92040" y="379476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559552" y="38862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D2BD"/>
                </a:solidFill>
              </a:rPr>
              <a:t>Effectiveness Report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559552" y="429768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Intervention log: delta-valence, style used, % helped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956048"/>
            <a:ext cx="8229600" cy="365760"/>
          </a:xfrm>
          <a:prstGeom prst="rect">
            <a:avLst/>
          </a:prstGeom>
          <a:solidFill>
            <a:srgbClr val="122030"/>
          </a:solidFill>
          <a:ln w="12700">
            <a:solidFill>
              <a:srgbClr val="12203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94360" y="495604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D2BD"/>
                </a:solidFill>
              </a:rPr>
              <a:t>🔗  Demo runs in Google Colab (GPU) · Scripted escalation scenario + live interactive widget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4572000" cy="4572000"/>
          </a:xfrm>
          <a:prstGeom prst="ellipse">
            <a:avLst/>
          </a:prstGeom>
          <a:solidFill>
            <a:srgbClr val="0A9396">
              <a:alpha val="12000"/>
            </a:srgbClr>
          </a:solidFill>
          <a:ln w="12700">
            <a:solidFill>
              <a:srgbClr val="0A9396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645920" cy="2926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CONCLUSION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Takeaways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384048" cy="5303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1472184"/>
            <a:ext cx="7726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complete emotion-aware AI pipeline — data → annotation → prediction → intervention → evaluation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384048" cy="530352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03120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2157984"/>
            <a:ext cx="7726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(AUC ~0.82) outperforms BiLSTM on 2-turn-ahead escalation prediction with interpretable features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384048" cy="530352"/>
          </a:xfrm>
          <a:prstGeom prst="rect">
            <a:avLst/>
          </a:prstGeom>
          <a:solidFill>
            <a:srgbClr val="EFC050"/>
          </a:solidFill>
          <a:ln w="12700">
            <a:solidFill>
              <a:srgbClr val="EFC0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88920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2843784"/>
            <a:ext cx="7726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reveals u_val_delta and u_val_last are the dominant predictors — validating the VAD feature design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384048" cy="530352"/>
          </a:xfrm>
          <a:prstGeom prst="rect">
            <a:avLst/>
          </a:prstGeom>
          <a:solidFill>
            <a:srgbClr val="E9724C"/>
          </a:solidFill>
          <a:ln w="12700">
            <a:solidFill>
              <a:srgbClr val="E972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474720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529584"/>
            <a:ext cx="7726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interventions statistically significantly improve Mistral-7B reply warmth (p &lt; 0.05, Δval +0.27)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160520"/>
            <a:ext cx="384048" cy="530352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160520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🌍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4215384"/>
            <a:ext cx="7726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WildChat-1M (50K sample) provides real-world, multi-lingual, multi-country conversational data at scale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773168"/>
            <a:ext cx="8229600" cy="914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864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D2BD"/>
                </a:solidFill>
              </a:rPr>
              <a:t>Thank you  ·  Questions welcome!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Expression AI — EECS 6895 Final Project</dc:title>
  <dc:subject>PptxGenJS Presentation</dc:subject>
  <dc:creator>PptxGenJS</dc:creator>
  <cp:lastModifiedBy>PptxGenJS</cp:lastModifiedBy>
  <cp:revision>1</cp:revision>
  <dcterms:created xsi:type="dcterms:W3CDTF">2026-05-05T18:52:14Z</dcterms:created>
  <dcterms:modified xsi:type="dcterms:W3CDTF">2026-05-05T18:52:14Z</dcterms:modified>
</cp:coreProperties>
</file>